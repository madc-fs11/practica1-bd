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207841d3094752" /><Relationship Type="http://schemas.openxmlformats.org/officeDocument/2006/relationships/extended-properties" Target="/docProps/app.xml" Id="R90b9c5cfbe934c63" /><Relationship Type="http://schemas.openxmlformats.org/officeDocument/2006/relationships/officeDocument" Target="/ppt/presentation.xml" Id="R21aeb00189f44c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1bc190377d453e"/>
  </p:sldMasterIdLst>
  <p:notesMasterIdLst>
    <p:notesMasterId xmlns:r="http://schemas.openxmlformats.org/officeDocument/2006/relationships" r:id="R5ddd6f5ed4c8461c"/>
  </p:notesMasterIdLst>
  <p:sldIdLst>
    <p:sldId xmlns:r="http://schemas.openxmlformats.org/officeDocument/2006/relationships" id="256" r:id="Rb68d21476fa84d5c"/>
    <p:sldId xmlns:r="http://schemas.openxmlformats.org/officeDocument/2006/relationships" id="257" r:id="R95c58febd7184990"/>
    <p:sldId xmlns:r="http://schemas.openxmlformats.org/officeDocument/2006/relationships" id="258" r:id="R270933341aee40c5"/>
    <p:sldId xmlns:r="http://schemas.openxmlformats.org/officeDocument/2006/relationships" id="259" r:id="R1e8b6fe4bc634976"/>
    <p:sldId xmlns:r="http://schemas.openxmlformats.org/officeDocument/2006/relationships" id="260" r:id="R4d4e112774494543"/>
    <p:sldId xmlns:r="http://schemas.openxmlformats.org/officeDocument/2006/relationships" id="261" r:id="Rc4a8047bfc4942d7"/>
    <p:sldId xmlns:r="http://schemas.openxmlformats.org/officeDocument/2006/relationships" id="262" r:id="R51a1e58c7cca4d6a"/>
    <p:sldId xmlns:r="http://schemas.openxmlformats.org/officeDocument/2006/relationships" id="263" r:id="R1c354e21455b49ac"/>
    <p:sldId xmlns:r="http://schemas.openxmlformats.org/officeDocument/2006/relationships" id="264" r:id="R3cd228a90a9740f9"/>
    <p:sldId xmlns:r="http://schemas.openxmlformats.org/officeDocument/2006/relationships" id="265" r:id="Ra565539cbcb5473c"/>
    <p:sldId xmlns:r="http://schemas.openxmlformats.org/officeDocument/2006/relationships" id="266" r:id="Rad5c2db215bf4d61"/>
    <p:sldId xmlns:r="http://schemas.openxmlformats.org/officeDocument/2006/relationships" id="267" r:id="R66788f53083f47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425271da14296" /><Relationship Type="http://schemas.openxmlformats.org/officeDocument/2006/relationships/slideMaster" Target="/ppt/slideMasters/slideMaster1.xml" Id="Rc71bc190377d453e" /><Relationship Type="http://schemas.openxmlformats.org/officeDocument/2006/relationships/notesMaster" Target="/ppt/notesMasters/notesMaster1.xml" Id="R5ddd6f5ed4c8461c" /><Relationship Type="http://schemas.openxmlformats.org/officeDocument/2006/relationships/presProps" Target="/ppt/presProps.xml" Id="R994e132ecae8477a" /><Relationship Type="http://schemas.openxmlformats.org/officeDocument/2006/relationships/tableStyles" Target="/ppt/tableStyles.xml" Id="R97b2f888a508417a" /><Relationship Type="http://schemas.openxmlformats.org/officeDocument/2006/relationships/slide" Target="/ppt/slides/slide1.xml" Id="Rb68d21476fa84d5c" /><Relationship Type="http://schemas.openxmlformats.org/officeDocument/2006/relationships/slide" Target="/ppt/slides/slide2.xml" Id="R95c58febd7184990" /><Relationship Type="http://schemas.openxmlformats.org/officeDocument/2006/relationships/slide" Target="/ppt/slides/slide3.xml" Id="R270933341aee40c5" /><Relationship Type="http://schemas.openxmlformats.org/officeDocument/2006/relationships/slide" Target="/ppt/slides/slide4.xml" Id="R1e8b6fe4bc634976" /><Relationship Type="http://schemas.openxmlformats.org/officeDocument/2006/relationships/slide" Target="/ppt/slides/slide5.xml" Id="R4d4e112774494543" /><Relationship Type="http://schemas.openxmlformats.org/officeDocument/2006/relationships/slide" Target="/ppt/slides/slide6.xml" Id="Rc4a8047bfc4942d7" /><Relationship Type="http://schemas.openxmlformats.org/officeDocument/2006/relationships/slide" Target="/ppt/slides/slide7.xml" Id="R51a1e58c7cca4d6a" /><Relationship Type="http://schemas.openxmlformats.org/officeDocument/2006/relationships/slide" Target="/ppt/slides/slide8.xml" Id="R1c354e21455b49ac" /><Relationship Type="http://schemas.openxmlformats.org/officeDocument/2006/relationships/slide" Target="/ppt/slides/slide9.xml" Id="R3cd228a90a9740f9" /><Relationship Type="http://schemas.openxmlformats.org/officeDocument/2006/relationships/slide" Target="/ppt/slides/slide10.xml" Id="Ra565539cbcb5473c" /><Relationship Type="http://schemas.openxmlformats.org/officeDocument/2006/relationships/slide" Target="/ppt/slides/slide11.xml" Id="Rad5c2db215bf4d61" /><Relationship Type="http://schemas.openxmlformats.org/officeDocument/2006/relationships/slide" Target="/ppt/slides/slide12.xml" Id="R66788f53083f47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eaaf2fa934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dfe6a6ae644da3" /><Relationship Type="http://schemas.openxmlformats.org/officeDocument/2006/relationships/notesMaster" Target="/ppt/notesMasters/notesMaster1.xml" Id="R1f2316b8d58048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4dd431f273473e" /><Relationship Type="http://schemas.openxmlformats.org/officeDocument/2006/relationships/notesMaster" Target="/ppt/notesMasters/notesMaster1.xml" Id="Ra4a20887f4ef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56736e6caf4799" /><Relationship Type="http://schemas.openxmlformats.org/officeDocument/2006/relationships/notesMaster" Target="/ppt/notesMasters/notesMaster1.xml" Id="R8798a8008ede49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575b67da44aaa" /><Relationship Type="http://schemas.openxmlformats.org/officeDocument/2006/relationships/notesMaster" Target="/ppt/notesMasters/notesMaster1.xml" Id="Re7907bea474d44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f19b8bcd1d4815" /><Relationship Type="http://schemas.openxmlformats.org/officeDocument/2006/relationships/notesMaster" Target="/ppt/notesMasters/notesMaster1.xml" Id="Re536b0011dd544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49ed600be5434d" /><Relationship Type="http://schemas.openxmlformats.org/officeDocument/2006/relationships/notesMaster" Target="/ppt/notesMasters/notesMaster1.xml" Id="R723e15be8ef24f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d1fb9c7d524a98" /><Relationship Type="http://schemas.openxmlformats.org/officeDocument/2006/relationships/notesMaster" Target="/ppt/notesMasters/notesMaster1.xml" Id="Rf76839f20b91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2ae77f1474b8d" /><Relationship Type="http://schemas.openxmlformats.org/officeDocument/2006/relationships/notesMaster" Target="/ppt/notesMasters/notesMaster1.xml" Id="R2af64ebb015d44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dae08b153742cc" /><Relationship Type="http://schemas.openxmlformats.org/officeDocument/2006/relationships/notesMaster" Target="/ppt/notesMasters/notesMaster1.xml" Id="Rc982a42e68c141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1acc1bafb04d9a" /><Relationship Type="http://schemas.openxmlformats.org/officeDocument/2006/relationships/notesMaster" Target="/ppt/notesMasters/notesMaster1.xml" Id="R8325e90368c448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3a02e33ed84c51" /><Relationship Type="http://schemas.openxmlformats.org/officeDocument/2006/relationships/notesMaster" Target="/ppt/notesMasters/notesMaster1.xml" Id="R4e54338866af46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4a058ad7cd4bbf" /><Relationship Type="http://schemas.openxmlformats.org/officeDocument/2006/relationships/notesMaster" Target="/ppt/notesMasters/notesMaster1.xml" Id="R32ce2b49042c41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0:30. Presentar el proyecto asignado y el proyecto propio. Esta exposición corresponde a una reconstrucción conceptual y tres propuestas individuales.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Explicar dispersión de expedientes, fotos y hojas de cálculo. Señalar tres poblaciones distintas: 6 obras en demo estático, 1247 del seed de almacén, simulación independiente para detector. Todas son sintéticas.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2:00. Diapositiva por completar con evidencia propia. Mostrar Docker y la API local, ejecutar consulta.sql sobre PostgreSQL en pgAdmin o psql y mostrar resultado real. No mostrar Pages como sustituto ni usar las cifras del artículo como resultado personal.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1:15. Mostrar relaciones de Constructora, Region y Supervisor con Obra, una por obra, y presupuesto máximo uno según el DDL. Personal tiene cuatro roles con disyunción y totalidad conceptual. El modelo completo está en proyecto-asignado/eer.png.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0:45. La dependencia de evidencia e informe da contexto al archivo. Los identificadores globales de Costo e Imagen no son claves parciales. Debilidad por identificación solo cuando la clave completa requiere al propietario.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Distinguir dominio de implementación: dimensiones, claves sustitutas y SCD no entidades nuevas. Informe y fotografía se pueden reducir en hechos. La tabla completa corresponde entidad por entidad y enumera pérdidas y agregaciones.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Propuesta de Marco Dichi. Fundamentar en §8.2(3). El director valida o rechaza con motivo, se guarda historial, hash, fecha y ubicación cuando existan. Un hash detecta cambios de bytes y no prueba autenticidad de la fotografía. Dificultad media.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Propuesta de Marco Dichi. Fundamentar en §7.4 y §8.3(5). El monto absoluto mezcla tamaños y tipos. Comparar unidad y tipo con una referencia vigente. Brecha financiero-físico del mismo período. Regla y alerta versionadas. Revisar, no diagnosticar corrupción. Dificultad alta.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Propuesta de Marco Dichi. Fundamentar en §8.2(2), §8.3(3). Cuota igual de créditos por convocatoria. Intensidad k cuesta k², siguiente unidad cuesta 2k+1. Control de saldo transaccional, privacidad del voto y cierre. No prometer equidad sin evaluación. Dificultad alta.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Explicar Usuario total y disjunto. CuentaCliente tiene fecha_alta_cliente y canal_preferido. CuentaPersonal conserva rol y añade fecha_ingreso. No confundir personas con cuentas. Caso original recibe WhatsApp; el Cliente puede existir sin cuenta. Son requisitos propuestos, no datos confirmados en la entrevista.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Mostrar claves parciales, repetir renglón 1 en diferentes pedidos y movimiento 1 en distintos inventarios. Identidad compuesta. Total derivado y precio histórico. Dos versiones completas en Chen y Crow’s Foot en el paquete.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0:30. Recapitular dominio, correspondencia y propuestas. Antes de exponer, completar demostración con evidencia local y verificar enlaces issues. Subrayar datos sintéticos y que las propuestas no están implementadas. Tiempo total previsto: 13 minutos.</a:t>
            </a:r>
          </a:p>
          <a:p xmlns:a="http://schemas.openxmlformats.org/drawingml/2006/main">
            <a:r>
              <a:t>Fuente principal: https://github.com/gabrielhuav/PublicMunicipalWorks_DWH/blob/dd5766e46c2f7e06719868f2a0cf0cd8451fe867/paper/Paper_37_1.pdf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5f6e2482e40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b3903640449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dc15a84c843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5296f2ce64c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fd6a54f0148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c2cbc6b2542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D3CC36-79B2-4DC6-9458-3250323B17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C6CF21-B0EF-4E3C-BA25-5B6B33E92A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48AC90-5348-4B45-B892-C30B30624C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A4FCD4-C354-4FE2-B686-7F17E01B0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8A2FDC-8E8A-42B8-8AA6-5E071E8C34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DAFED8-7946-4DC5-B9E3-3EEFC4E8D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FB4ABF-6291-48D6-9A81-6304994CE9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87C647-2716-4596-B4F1-A13373B674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F60715-7C59-468E-B1E7-0A223D731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6E5EBF-6F27-4401-B76C-29B03280CD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ea644e7db24a74" /><Relationship Type="http://schemas.openxmlformats.org/officeDocument/2006/relationships/slideLayout" Target="/ppt/slideLayouts/slideLayout1.xml" Id="R12937002d31749e9" /><Relationship Type="http://schemas.openxmlformats.org/officeDocument/2006/relationships/slideLayout" Target="/ppt/slideLayouts/slideLayout2.xml" Id="Rc1c777579b9748b6" /><Relationship Type="http://schemas.openxmlformats.org/officeDocument/2006/relationships/slideLayout" Target="/ppt/slideLayouts/slideLayout3.xml" Id="R05c87c7f2c4249f7" /><Relationship Type="http://schemas.openxmlformats.org/officeDocument/2006/relationships/slideLayout" Target="/ppt/slideLayouts/slideLayout4.xml" Id="R7d5f9d52aacb4e03" /><Relationship Type="http://schemas.openxmlformats.org/officeDocument/2006/relationships/slideLayout" Target="/ppt/slideLayouts/slideLayout5.xml" Id="R85be7e97bed14223" /><Relationship Type="http://schemas.openxmlformats.org/officeDocument/2006/relationships/slideLayout" Target="/ppt/slideLayouts/slideLayout6.xml" Id="R4ae2c1dfc40543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937002d31749e9"/>
    <p:sldLayoutId xmlns:r="http://schemas.openxmlformats.org/officeDocument/2006/relationships" id="2147483650" r:id="Rc1c777579b9748b6"/>
    <p:sldLayoutId xmlns:r="http://schemas.openxmlformats.org/officeDocument/2006/relationships" id="2147483651" r:id="R05c87c7f2c4249f7"/>
    <p:sldLayoutId xmlns:r="http://schemas.openxmlformats.org/officeDocument/2006/relationships" id="2147483652" r:id="R7d5f9d52aacb4e03"/>
    <p:sldLayoutId xmlns:r="http://schemas.openxmlformats.org/officeDocument/2006/relationships" id="2147483653" r:id="R85be7e97bed14223"/>
    <p:sldLayoutId xmlns:r="http://schemas.openxmlformats.org/officeDocument/2006/relationships" id="2147483654" r:id="R4ae2c1dfc40543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079c3a6c24973" /><Relationship Type="http://schemas.openxmlformats.org/officeDocument/2006/relationships/notesSlide" Target="/ppt/notesSlides/notesSlide1.xml" Id="Re4f336e6165c45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be9ca4db343f8" /><Relationship Type="http://schemas.openxmlformats.org/officeDocument/2006/relationships/notesSlide" Target="/ppt/notesSlides/notesSlide2.xml" Id="Raf759adf867f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6aa82552d4552" /><Relationship Type="http://schemas.openxmlformats.org/officeDocument/2006/relationships/notesSlide" Target="/ppt/notesSlides/notesSlide3.xml" Id="R472c09197c7146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f3f5f716c4444" /><Relationship Type="http://schemas.openxmlformats.org/officeDocument/2006/relationships/notesSlide" Target="/ppt/notesSlides/notesSlide4.xml" Id="R9df331c564ac4a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8d02e80b54dc6" /><Relationship Type="http://schemas.openxmlformats.org/officeDocument/2006/relationships/notesSlide" Target="/ppt/notesSlides/notesSlide5.xml" Id="R353d4fb37d954c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e7b1e92a34246" /><Relationship Type="http://schemas.openxmlformats.org/officeDocument/2006/relationships/notesSlide" Target="/ppt/notesSlides/notesSlide6.xml" Id="R10747c08b59c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9569f34e74bbc" /><Relationship Type="http://schemas.openxmlformats.org/officeDocument/2006/relationships/notesSlide" Target="/ppt/notesSlides/notesSlide7.xml" Id="R7cb8731a2c4e4b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7ab04b41b4d63" /><Relationship Type="http://schemas.openxmlformats.org/officeDocument/2006/relationships/notesSlide" Target="/ppt/notesSlides/notesSlide8.xml" Id="R04ca47f654fe48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f825546d64811" /><Relationship Type="http://schemas.openxmlformats.org/officeDocument/2006/relationships/notesSlide" Target="/ppt/notesSlides/notesSlide9.xml" Id="R5d62523a616240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b1f4c580947dd" /><Relationship Type="http://schemas.openxmlformats.org/officeDocument/2006/relationships/notesSlide" Target="/ppt/notesSlides/notesSlide10.xml" Id="Rd9b22fabac3643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451fb5a8641b5" /><Relationship Type="http://schemas.openxmlformats.org/officeDocument/2006/relationships/notesSlide" Target="/ppt/notesSlides/notesSlide11.xml" Id="R77a0c7bd8a094c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318764ee34026" /><Relationship Type="http://schemas.openxmlformats.org/officeDocument/2006/relationships/notesSlide" Target="/ppt/notesSlides/notesSlide12.xml" Id="R232625e7862548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69509-60CD-4720-B7EF-F5C104F9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Modelo EER de obras públicas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D84F5-C30E-4C84-AE90-846B127F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29DAF-A03B-4CA2-A79F-BB8863AE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2A6CF-7F2F-47D1-8B79-AC428C5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Proyecto asignado</a:t>
            </a:r>
          </a:p>
          <a:p xmlns:a="http://schemas.openxmlformats.org/drawingml/2006/main">
            <a:pPr>
              <a:defRPr sz="36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Obra pública municipal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F1AD8-F677-43B0-80C0-2FDCA25B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Proyecto propio</a:t>
            </a:r>
          </a:p>
          <a:p xmlns:a="http://schemas.openxmlformats.org/drawingml/2006/main">
            <a:pPr>
              <a:def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Los postres de Malu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B5A58-FA96-4759-87F2-96EDD2A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ESCOM · Instituto Politécnico Nacional</a:t>
            </a:r>
          </a:p>
        </p:txBody>
      </p:sp>
    </p:spTree>
    <p:extLst>
      <p:ext uri="{BB962C8B-B14F-4D97-AF65-F5344CB8AC3E}">
        <p14:creationId xmlns:p14="http://schemas.microsoft.com/office/powerpoint/2010/main" val="579635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10015-0064-4B31-9704-70CB38DD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Problema y datos del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AF8A2-AA61-4A5C-886F-B968453B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F04AB-BE51-433C-B7A8-A8231A18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72E97-5250-4B96-ABD0-9C2CC675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Los expedientes dispersos dificultan seguir</a:t>
            </a:r>
          </a:p>
          <a:p xmlns:a="http://schemas.openxmlformats.org/drawingml/2006/main">
            <a:pPr>
              <a:defRPr sz="262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el avance, el gasto y la evidencia de cada obra.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35E32-2C10-4B90-A4A7-179E8DDC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Registros estructurados: obras, actores,</a:t>
            </a:r>
          </a:p>
          <a:p xmlns:a="http://schemas.openxmlformats.org/drawingml/2006/main">
            <a: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presupuestos, informes y participación.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9A881-14C8-405D-AA24-DC5AB970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Documentos y fotografías enlazados en objetos.</a:t>
            </a:r>
          </a:p>
          <a:p xmlns:a="http://schemas.openxmlformats.org/drawingml/2006/main">
            <a: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La evaluación del artículo usa datos sintéticos.</a:t>
            </a:r>
          </a:p>
        </p:txBody>
      </p:sp>
    </p:spTree>
    <p:extLst>
      <p:ext uri="{BB962C8B-B14F-4D97-AF65-F5344CB8AC3E}">
        <p14:creationId xmlns:p14="http://schemas.microsoft.com/office/powerpoint/2010/main" val="941720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D3E3F-1065-40E0-947B-C384C3FB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Demostración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D063C-A747-42BB-99BB-42E3827F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E73E2-5E93-470B-9EED-33A5D87F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56919-6CFE-43AF-AA73-6F4AE168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PENDIENTE DE INCORPORAR</a:t>
            </a:r>
          </a:p>
          <a:p xmlns:a="http://schemas.openxmlformats.org/drawingml/2006/main">
            <a:pPr>
              <a:defRPr sz="262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Ejecución en la computadora del estudiante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80C66-8B6E-4ABF-BA2E-3C143EE7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Arranque PostgreSQL y API</a:t>
            </a:r>
          </a:p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Aplicación o API respondiendo localmente</a:t>
            </a:r>
          </a:p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Consulta SQL y resultado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FB1E0-7069-438E-8BD1-61BF39EC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La presentación queda preparada para insertar la evidencia o iniciar una demostración en vivo.</a:t>
            </a:r>
          </a:p>
        </p:txBody>
      </p:sp>
    </p:spTree>
    <p:extLst>
      <p:ext uri="{BB962C8B-B14F-4D97-AF65-F5344CB8AC3E}">
        <p14:creationId xmlns:p14="http://schemas.microsoft.com/office/powerpoint/2010/main" val="137884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A2CFF-B100-4958-B6D1-D467F14FAC0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24750" y="3524250"/>
            <a:ext cx="1095375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66B7C-41E7-416C-A96B-1A3FEB7F418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524750" y="2357438"/>
            <a:ext cx="1095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599AB-6AC1-49AF-BB1E-7F2EE18AF24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524250"/>
            <a:ext cx="1190625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6E4E6-5FEA-4226-AC56-32B6A696D4E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76625" y="2357438"/>
            <a:ext cx="119062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627F1-B690-4224-A0C5-A1A8B3E8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Modelo conceptual de gestión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323F1-5382-49CD-A13C-05F7F23A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EC0EA-D119-4326-A1E4-CD127A6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C957A-3490-4ECE-9737-C3DF6E7F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63867-9A5E-4DD1-A087-C933E287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Constructora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921A0-E0FC-49B2-86CC-892C1B89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6220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Identidad del ejecutor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0DC65-7FCF-464F-90A4-D6A06CD5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103A5-D27E-4D30-931E-C911345C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48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Supervisor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D505D-3462-41D7-B535-1D72F73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3870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Subtipo de Personal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14275-1DD3-42FF-A60C-A05F1E33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E3872-2703-4042-8107-4666FB93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Obra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5C641-097B-4E4A-A1F1-57D81D96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57575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Expediente y fechas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34F1E-1CF7-4FEA-8B68-8C559437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573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33EAE-7DC9-4952-A281-893D66DE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716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Region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0F4B4-AEBE-41D3-8306-A94917D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6220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Comunidad y barrio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0C9EC-C9A7-42EE-83EC-6998CB97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9611C-A399-451D-9593-CA0581CA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48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Presupuesto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FC3FC-899F-4FE4-83A5-4F46E990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83870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Monto y proyectista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06EAF-56BF-42CF-AAD0-1255975D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71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0A0D0-FF91-4D04-AE7D-FB06A0C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67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07FCF-BCCF-43B7-AA97-89696C05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09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0..N :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88B2D-ADD0-441E-AEB9-D1D61ED5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67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3A099-22B0-4CA7-8036-71307D86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Cada cuenta de Personal tiene un rol. El almacén versiona al objeto, no crea otra obra.</a:t>
            </a:r>
          </a:p>
        </p:txBody>
      </p:sp>
    </p:spTree>
    <p:extLst>
      <p:ext uri="{BB962C8B-B14F-4D97-AF65-F5344CB8AC3E}">
        <p14:creationId xmlns:p14="http://schemas.microsoft.com/office/powerpoint/2010/main" val="1817091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F3EE5-5FD1-4D3B-AFB3-D65CE7F700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24750" y="273843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D7864-9241-40B0-8EEA-21179D3DDD5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29000" y="27384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9F09F-D8B4-43CF-900E-081078E5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Expediente y dependencias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59AA1-E6F8-4512-81D2-D81B8F91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5760D-EBCB-4340-9C5F-BBCCAF98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64C32-3D7B-4D40-8D9C-3FEE6103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762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0DC19-0E70-44C3-BEB8-BC1697E9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Obra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5C019-DA14-4C38-BA69-3231029A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495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id_obra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30D64-0B54-467F-BD4E-2F12893A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449CA-8C8A-42F9-9F94-D98C675C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526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InformeAvance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CD013-3452-4195-BA8D-7FA4C124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Avances y documento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D0ACA-1CF1-4C6F-8674-39FBE5E4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0A50D-BF9D-4AC6-A957-52918F9F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526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Evidencia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BB8E1-D7E5-47FB-8BB5-49F1169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URL, ruta y metadatos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CA02C-846C-4AC1-BB07-B244966C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765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43F95-FA3B-4B43-B5C5-A74E6533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B0797-B1B4-408A-9A57-E925D04B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La fotografía depende del informe.</a:t>
            </a:r>
          </a:p>
          <a:p xmlns:a="http://schemas.openxmlformats.org/drawingml/2006/main">
            <a: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El archivo binario vive fuera del SQL.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F7862-8FF8-46A1-945B-D0D0B2C8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Permisos, candidaturas, actas y firmantes completan el expediente.</a:t>
            </a:r>
          </a:p>
          <a:p xmlns:a="http://schemas.openxmlformats.org/drawingml/2006/main">
            <a: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El modelo conserva relaciones que se reducen al formar conteos analíticos.</a:t>
            </a:r>
          </a:p>
        </p:txBody>
      </p:sp>
    </p:spTree>
    <p:extLst>
      <p:ext uri="{BB962C8B-B14F-4D97-AF65-F5344CB8AC3E}">
        <p14:creationId xmlns:p14="http://schemas.microsoft.com/office/powerpoint/2010/main" val="1961567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54344-F016-4F70-9E58-0B5DA9FD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Correspondencia con el almacén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B4FD7-B124-4432-B198-EA7C2C8B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6E109-464C-4489-A5CC-582FBF5E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171D5-FA16-4CB7-857F-435556D6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Obra → dim_obra</a:t>
            </a:r>
          </a:p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Una identidad de negocio puede tener varias versiones SCD2.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6E157-7688-4B61-9953-268E553C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Personal y sus subtipos → dim_personal</a:t>
            </a:r>
          </a:p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La dimensión combina atributos y marcas de 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AA0A3-D5EB-49F1-98AC-D643AB68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Informe y evidencia → eventos y seguimiento mensual</a:t>
            </a:r>
          </a:p>
          <a:p xmlns:a="http://schemas.openxmlformats.org/drawingml/2006/main">
            <a:pPr>
              <a:def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Los conteos no sustituyen el expediente completo.</a:t>
            </a:r>
          </a:p>
        </p:txBody>
      </p:sp>
    </p:spTree>
    <p:extLst>
      <p:ext uri="{BB962C8B-B14F-4D97-AF65-F5344CB8AC3E}">
        <p14:creationId xmlns:p14="http://schemas.microsoft.com/office/powerpoint/2010/main" val="967313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81B36-E345-4C25-941C-6491EC5A158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71875" y="36671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E7021-89DF-4961-AC04-80416FE8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Mejora 1: revisión de informes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990CD-1C56-4336-99EF-8A0B229C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66229-6A00-447D-B852-28DEDC0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9374C-341B-4D8E-B5A2-D2501008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525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El supervisor declara el avance.</a:t>
            </a:r>
          </a:p>
          <a:p xmlns:a="http://schemas.openxmlformats.org/drawingml/2006/main">
            <a: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El director registra su validación.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99547-7080-4671-BE35-B50C4633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B4107-D345-4DB4-974D-462C7BD4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InformeAvance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9E3D9-887B-4D29-ACE4-C38A02F2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480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Entidad del modelo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743D7-C1BD-4B6D-8DC7-54FEE5A8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0B71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33E91-4606-4368-A114-A9974B13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ValidacionInforme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BA732-CC09-4A95-AF7E-17CC637F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4807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Fecha, revisor y resultado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DA968-C54A-4B23-A1AF-3DDC635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DB32C-ED29-4856-A543-0CD6583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670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Metadatos de evidencia</a:t>
            </a:r>
          </a:p>
          <a:p xmlns:a="http://schemas.openxmlformats.org/drawingml/2006/main">
            <a:pPr>
              <a:defRPr sz="1950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Hash, fecha de captura</a:t>
            </a:r>
          </a:p>
          <a:p xmlns:a="http://schemas.openxmlformats.org/drawingml/2006/main">
            <a:pPr>
              <a:defRPr sz="1950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y ubicación si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41553-4208-4678-BD5A-BD51E38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Historial verificable, revisión humana y publicación de evidencia aprobada.</a:t>
            </a:r>
          </a:p>
        </p:txBody>
      </p:sp>
    </p:spTree>
    <p:extLst>
      <p:ext uri="{BB962C8B-B14F-4D97-AF65-F5344CB8AC3E}">
        <p14:creationId xmlns:p14="http://schemas.microsoft.com/office/powerpoint/2010/main" val="580827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038BC-CDF4-4CD1-8891-4D4724A009C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7623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4DF9F-3C75-43A7-87A2-DBAD4E5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Mejora 2: alertas comparables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7AE48-5F50-4E4C-B33D-EED1C49E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900CB-6070-4ED7-A113-5CD90E35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CA420-0962-40FA-A0B2-8C33B410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Costo unitario frente a una referencia vigente.</a:t>
            </a:r>
          </a:p>
          <a:p xmlns:a="http://schemas.openxmlformats.org/drawingml/2006/main">
            <a: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Brecha entre avance físico y financiero.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A57A4-B27E-45FD-8B5A-29B9DD6F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C436D-D106-47BC-8C08-E61962CD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5280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Obra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BDEAC-3ED2-4F0F-9D1C-6F5A9E9C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Tipo y período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19071-C5AF-4EE9-BC43-565CBC54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0B71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A09CE-D995-425A-890D-CE4D7967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528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PartidaContrato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C8BDF-D297-41E5-9F6B-E1DFE3DA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43325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Cantidad, unidad y precio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9B3D3-FAE8-47D5-B8BE-958338F5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0B71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41E13-EC6E-4C5F-A510-6E1E068E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528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AlertaRevision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5A1BD-95E1-491B-98A9-E8B9B20D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433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Valor, umbral y regla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87BD1-43CB-434B-8C66-A8E5F684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6578E-F257-49B9-81DA-5A0F48B5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Sin una referencia comparable, el sistema informa “datos insuficientes”.</a:t>
            </a:r>
          </a:p>
        </p:txBody>
      </p:sp>
    </p:spTree>
    <p:extLst>
      <p:ext uri="{BB962C8B-B14F-4D97-AF65-F5344CB8AC3E}">
        <p14:creationId xmlns:p14="http://schemas.microsoft.com/office/powerpoint/2010/main" val="425043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6B3C7-3F99-4EBB-8098-DBE5468D7DFA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620000" y="3857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36E7B-0886-4AC6-A137-5BE0A9029D7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857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247DC-A940-4BDA-8CD1-1174524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Mejora 3: créditos por convocatoria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96D63-A32C-4FDB-88AF-B72A80F8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AA74E-65C8-441A-A7A3-16B116B6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23DDD-319E-41F7-9B71-21ED070D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Cada poblador distribuye un presupuesto</a:t>
            </a:r>
          </a:p>
          <a:p xmlns:a="http://schemas.openxmlformats.org/drawingml/2006/main">
            <a:pPr>
              <a:def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igual de créditos entre las propuestas.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B61FF-C5DC-4AA7-BBA3-6AE72D7E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95449-5639-4C42-BF31-AE728DF7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480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Poblador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EE92C-53BC-4906-933F-72CB486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3857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Identidad del participante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DAC89-1F66-44E9-8956-278E9AD0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0B71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AF2B5-8395-468D-9BC5-B5A212B0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BolsaCreditos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CECEC-6886-4355-BE57-B79369EB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38575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Saldo por convocatoria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F9449-50B6-4FA3-A30F-CD1B4EB4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0B71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845AF-F184-483A-822B-4D437F6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480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B7164"/>
                </a:solidFill>
                <a:latin typeface="DejaVu Sans"/>
                <a:ea typeface="DejaVu Sans"/>
                <a:cs typeface="DejaVu Sans"/>
              </a:rPr>
              <a:t>Convocatoria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8448E-A748-48A8-9442-BFC4127B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385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Cuota, apertura y cierre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D2450-0CCE-4B7A-AEC7-8A1A48FA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195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5F469-CDD2-4E45-945D-935174AF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19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 : 0..N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7B2DA-E0C8-4A31-8DF0-143FDBC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Intensidad k: costo k². El cambio de voto actualiza el saldo en una transacción.</a:t>
            </a:r>
          </a:p>
        </p:txBody>
      </p:sp>
    </p:spTree>
    <p:extLst>
      <p:ext uri="{BB962C8B-B14F-4D97-AF65-F5344CB8AC3E}">
        <p14:creationId xmlns:p14="http://schemas.microsoft.com/office/powerpoint/2010/main" val="1578963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5C212-3B21-4041-AF66-262714DDA42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714625"/>
            <a:ext cx="3048000" cy="10001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48DA4-0564-435C-896E-790D77366F7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143250" y="2714625"/>
            <a:ext cx="2952750" cy="1000125"/>
          </a:xfrm>
          <a:prstGeom xmlns:a="http://schemas.openxmlformats.org/drawingml/2006/main" prst="bentConnector4">
            <a:avLst>
              <a:gd name="adj1" fmla="val 0"/>
              <a:gd name="adj2" fmla="val 22857"/>
            </a:avLst>
          </a:prstGeom>
          <a:ln xmlns:a="http://schemas.openxmlformats.org/drawingml/2006/main" w="19050">
            <a:solidFill>
              <a:srgbClr val="63384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5BF1F-0E7D-44FC-982B-5EB5E806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Los postres de Malu: especialización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5DF23-2023-4B1B-8C8D-801AFAAA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15BEF-221B-4785-9493-E0AA5D4A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92462-4BDE-443F-B6B3-08BF80FF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76F34-7EAB-49BE-A64B-00B3A968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811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Usuario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40B86-2D1A-471F-B376-09A73FE5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Credenciales e identidad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DE7FA-4DBE-42EC-8DE3-3C58BD65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81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A702A-DE5B-48ED-A10B-BF7711C0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CuentaCliente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3CE26-85DA-449C-8F45-7C2A2515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9575"/>
            <a:ext cx="354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fecha_alta_cliente</a:t>
            </a:r>
          </a:p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canal_preferido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234DA-22E5-44A5-917C-1969C9BE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81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19050">
            <a:solidFill>
              <a:srgbClr val="6338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71B5C-CEFD-454F-9A26-4EF11841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290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CuentaPersonal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28629-F7F7-431C-9F30-8E7F1D7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19575"/>
            <a:ext cx="3543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rol</a:t>
            </a:r>
          </a:p>
          <a:p xmlns:a="http://schemas.openxmlformats.org/drawingml/2006/main">
            <a:pPr>
              <a:def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fecha_ingreso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2334A-0657-48B4-8A4A-F2083F77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65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d / 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2F398-2948-4FC7-A644-82A9DCF8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CDA6A-F3AB-4D3D-B41A-3DF4B255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Toda cuenta tiene exactamente un subtipo.</a:t>
            </a:r>
          </a:p>
          <a:p xmlns:a="http://schemas.openxmlformats.org/drawingml/2006/main">
            <a: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Un cliente puede registrarse sin cuenta web.</a:t>
            </a:r>
          </a:p>
        </p:txBody>
      </p:sp>
    </p:spTree>
    <p:extLst>
      <p:ext uri="{BB962C8B-B14F-4D97-AF65-F5344CB8AC3E}">
        <p14:creationId xmlns:p14="http://schemas.microsoft.com/office/powerpoint/2010/main" val="1035043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15FBA-644F-4529-A90C-0F6F8BBE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Los postres de Malu: entidades débiles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8B115-7BF6-4B91-B834-DC971ABA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F6E8F-D9EB-4346-AA62-A69694AC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41F8F-EF4E-44D2-9DDF-DC7CB898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DetallePedido</a:t>
            </a:r>
          </a:p>
          <a:p xmlns:a="http://schemas.openxmlformats.org/drawingml/2006/main">
            <a:pPr>
              <a:def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PK (id_pedido, nro_renglon)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F4166-3F35-40D3-AEBB-AC7E966A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MovimientoInventario</a:t>
            </a:r>
          </a:p>
          <a:p xmlns:a="http://schemas.openxmlformats.org/drawingml/2006/main">
            <a:pPr>
              <a:def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PK (id_inventario, nro_movimiento)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46A65-DDB9-432A-9DA9-0ED7419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El propietario completa la identidad y da contexto.</a:t>
            </a:r>
          </a:p>
          <a:p xmlns:a="http://schemas.openxmlformats.org/drawingml/2006/main">
            <a:pPr>
              <a:def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El total del pedido se deriva de cantidades y precios acordados.</a:t>
            </a:r>
          </a:p>
        </p:txBody>
      </p:sp>
    </p:spTree>
    <p:extLst>
      <p:ext uri="{BB962C8B-B14F-4D97-AF65-F5344CB8AC3E}">
        <p14:creationId xmlns:p14="http://schemas.microsoft.com/office/powerpoint/2010/main" val="1577651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DDD0A-430A-4650-9CA1-7BB57CA1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633844"/>
                </a:solidFill>
                <a:latin typeface="DejaVu Sans"/>
                <a:ea typeface="DejaVu Sans"/>
                <a:cs typeface="DejaVu Sans"/>
              </a:rPr>
              <a:t>Alcance y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D5FDA-170B-4114-86FA-7355FC66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Marco Dichi · Bases de Datos ·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1C178-C961-42C7-AA6B-DBC7F662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EE36E-04D8-4343-ACB7-7B585C14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85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El EER explica el dominio.</a:t>
            </a:r>
          </a:p>
          <a:p xmlns:a="http://schemas.openxmlformats.org/drawingml/2006/main">
            <a:pPr>
              <a:defRPr sz="292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El almacén añade historia y agregación.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A3827-C117-47BA-A0E5-9EE8354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Las tres mejoras amplían el modelo</a:t>
            </a:r>
          </a:p>
          <a:p xmlns:a="http://schemas.openxmlformats.org/drawingml/2006/main">
            <a:pPr>
              <a:def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8313A"/>
                </a:solidFill>
                <a:latin typeface="DejaVu Sans"/>
                <a:ea typeface="DejaVu Sans"/>
                <a:cs typeface="DejaVu Sans"/>
              </a:rPr>
              <a:t>y tienen criterios de aceptación.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36385-CB7F-402B-8041-E1273899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85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Fuentes: SQL del repositorio y manuscrito ICOKG 2026.</a:t>
            </a:r>
          </a:p>
          <a:p xmlns:a="http://schemas.openxmlformats.org/drawingml/2006/main">
            <a:pPr>
              <a:def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26B74"/>
                </a:solidFill>
                <a:latin typeface="DejaVu Sans"/>
                <a:ea typeface="DejaVu Sans"/>
                <a:cs typeface="DejaVu Sans"/>
              </a:rPr>
              <a:t>Los resultados del prototipo son sintéticos.</a:t>
            </a:r>
          </a:p>
        </p:txBody>
      </p:sp>
    </p:spTree>
    <p:extLst>
      <p:ext uri="{BB962C8B-B14F-4D97-AF65-F5344CB8AC3E}">
        <p14:creationId xmlns:p14="http://schemas.microsoft.com/office/powerpoint/2010/main" val="547550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2026-10-14T03:32:55.6250000Z</dcterms:created>
  <dcterms:modified xsi:type="dcterms:W3CDTF">2026-10-14T03:32:55.6250000Z</dcterms:modified>
</coreProperties>
</file>